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b114854-69f8-9ef5-0869-79dac4e140f0}">
          <p14:sldIdLst>
            <p14:sldId id="256"/>
            <p14:sldId id="257"/>
            <p14:sldId id="258"/>
          </p14:sldIdLst>
        </p14:section>
        <p14:section name="Findings" id="{bd44b955-bac8-3ef5-740d-6b02d24139f2}">
          <p14:sldIdLst>
            <p14:sldId id="259"/>
            <p14:sldId id="260"/>
            <p14:sldId id="261"/>
          </p14:sldIdLst>
        </p14:section>
        <p14:section name="Close" id="{c24e36ee-63e6-425d-3ff5-575f44938b9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+mn-lt"/>
              </a:rPr>
              <a:t>Correlation with monthly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revenue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store footfall</c:v>
                  </c:pt>
                  <c:pt idx="1">
                    <c:v>store size sqft</c:v>
                  </c:pt>
                  <c:pt idx="2">
                    <c:v>avg product price</c:v>
                  </c:pt>
                  <c:pt idx="3">
                    <c:v>ad spend digital</c:v>
                  </c:pt>
                  <c:pt idx="4">
                    <c:v>ad spend tv</c:v>
                  </c:pt>
                  <c:pt idx="5">
                    <c:v>is holiday season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0.653</c:v>
                </c:pt>
                <c:pt idx="1">
                  <c:v>0.404</c:v>
                </c:pt>
                <c:pt idx="2">
                  <c:v>0.374</c:v>
                </c:pt>
                <c:pt idx="3">
                  <c:v>0.289</c:v>
                </c:pt>
                <c:pt idx="4">
                  <c:v>0.217</c:v>
                </c:pt>
                <c:pt idx="5">
                  <c:v>0.15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+mn-lt"/>
              </a:rPr>
              <a:t>Actual vs predicted revenue (000s, test sample)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0F766E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xVal>
            <c:numRef>
              <c:f>Sheet1!$A$2:$A$251</c:f>
              <c:numCache>
                <c:formatCode>General</c:formatCode>
                <c:ptCount val="250"/>
                <c:pt idx="0">
                  <c:v>215.4</c:v>
                </c:pt>
                <c:pt idx="1">
                  <c:v>241.2</c:v>
                </c:pt>
                <c:pt idx="2">
                  <c:v>273.9</c:v>
                </c:pt>
                <c:pt idx="3">
                  <c:v>285.1</c:v>
                </c:pt>
                <c:pt idx="4">
                  <c:v>181.5</c:v>
                </c:pt>
                <c:pt idx="5">
                  <c:v>282</c:v>
                </c:pt>
                <c:pt idx="6">
                  <c:v>194.7</c:v>
                </c:pt>
                <c:pt idx="7">
                  <c:v>127.2</c:v>
                </c:pt>
                <c:pt idx="8">
                  <c:v>266.6</c:v>
                </c:pt>
                <c:pt idx="9">
                  <c:v>284.1</c:v>
                </c:pt>
                <c:pt idx="10">
                  <c:v>175.4</c:v>
                </c:pt>
                <c:pt idx="11">
                  <c:v>197.7</c:v>
                </c:pt>
                <c:pt idx="12">
                  <c:v>356.3</c:v>
                </c:pt>
                <c:pt idx="13">
                  <c:v>264.3</c:v>
                </c:pt>
                <c:pt idx="14">
                  <c:v>439.8</c:v>
                </c:pt>
                <c:pt idx="15">
                  <c:v>353</c:v>
                </c:pt>
                <c:pt idx="16">
                  <c:v>376.7</c:v>
                </c:pt>
                <c:pt idx="17">
                  <c:v>229.9</c:v>
                </c:pt>
                <c:pt idx="18">
                  <c:v>295</c:v>
                </c:pt>
                <c:pt idx="19">
                  <c:v>354.8</c:v>
                </c:pt>
                <c:pt idx="20">
                  <c:v>303.6</c:v>
                </c:pt>
                <c:pt idx="21">
                  <c:v>345.1</c:v>
                </c:pt>
                <c:pt idx="22">
                  <c:v>261.5</c:v>
                </c:pt>
                <c:pt idx="23">
                  <c:v>330.6</c:v>
                </c:pt>
                <c:pt idx="24">
                  <c:v>381.4</c:v>
                </c:pt>
                <c:pt idx="25">
                  <c:v>240.8</c:v>
                </c:pt>
                <c:pt idx="26">
                  <c:v>295.4</c:v>
                </c:pt>
                <c:pt idx="27">
                  <c:v>178.3</c:v>
                </c:pt>
                <c:pt idx="28">
                  <c:v>322.8</c:v>
                </c:pt>
                <c:pt idx="29">
                  <c:v>293.5</c:v>
                </c:pt>
                <c:pt idx="30">
                  <c:v>209.3</c:v>
                </c:pt>
                <c:pt idx="31">
                  <c:v>304.1</c:v>
                </c:pt>
                <c:pt idx="32">
                  <c:v>325.9</c:v>
                </c:pt>
                <c:pt idx="33">
                  <c:v>218</c:v>
                </c:pt>
                <c:pt idx="34">
                  <c:v>285.2</c:v>
                </c:pt>
                <c:pt idx="35">
                  <c:v>320.3</c:v>
                </c:pt>
                <c:pt idx="36">
                  <c:v>328.6</c:v>
                </c:pt>
                <c:pt idx="37">
                  <c:v>251.7</c:v>
                </c:pt>
                <c:pt idx="38">
                  <c:v>374.8</c:v>
                </c:pt>
                <c:pt idx="39">
                  <c:v>287.4</c:v>
                </c:pt>
                <c:pt idx="40">
                  <c:v>281.2</c:v>
                </c:pt>
                <c:pt idx="41">
                  <c:v>316.9</c:v>
                </c:pt>
                <c:pt idx="42">
                  <c:v>258.8</c:v>
                </c:pt>
                <c:pt idx="43">
                  <c:v>303</c:v>
                </c:pt>
                <c:pt idx="44">
                  <c:v>211.8</c:v>
                </c:pt>
                <c:pt idx="45">
                  <c:v>281.7</c:v>
                </c:pt>
                <c:pt idx="46">
                  <c:v>277.9</c:v>
                </c:pt>
                <c:pt idx="47">
                  <c:v>295.1</c:v>
                </c:pt>
                <c:pt idx="48">
                  <c:v>220.9</c:v>
                </c:pt>
                <c:pt idx="49">
                  <c:v>291.1</c:v>
                </c:pt>
                <c:pt idx="50">
                  <c:v>271.7</c:v>
                </c:pt>
                <c:pt idx="51">
                  <c:v>310.6</c:v>
                </c:pt>
                <c:pt idx="52">
                  <c:v>235.6</c:v>
                </c:pt>
                <c:pt idx="53">
                  <c:v>270.2</c:v>
                </c:pt>
                <c:pt idx="54">
                  <c:v>360.1</c:v>
                </c:pt>
                <c:pt idx="55">
                  <c:v>251.2</c:v>
                </c:pt>
                <c:pt idx="56">
                  <c:v>319.1</c:v>
                </c:pt>
                <c:pt idx="57">
                  <c:v>258</c:v>
                </c:pt>
                <c:pt idx="58">
                  <c:v>241.7</c:v>
                </c:pt>
                <c:pt idx="59">
                  <c:v>333.4</c:v>
                </c:pt>
                <c:pt idx="60">
                  <c:v>231.9</c:v>
                </c:pt>
                <c:pt idx="61">
                  <c:v>263.2</c:v>
                </c:pt>
                <c:pt idx="62">
                  <c:v>248.4</c:v>
                </c:pt>
                <c:pt idx="63">
                  <c:v>297</c:v>
                </c:pt>
                <c:pt idx="64">
                  <c:v>261.3</c:v>
                </c:pt>
                <c:pt idx="65">
                  <c:v>250.9</c:v>
                </c:pt>
                <c:pt idx="66">
                  <c:v>327.4</c:v>
                </c:pt>
                <c:pt idx="67">
                  <c:v>361.6</c:v>
                </c:pt>
                <c:pt idx="68">
                  <c:v>273</c:v>
                </c:pt>
                <c:pt idx="69">
                  <c:v>208.8</c:v>
                </c:pt>
                <c:pt idx="70">
                  <c:v>204.8</c:v>
                </c:pt>
                <c:pt idx="71">
                  <c:v>335.7</c:v>
                </c:pt>
                <c:pt idx="72">
                  <c:v>194.4</c:v>
                </c:pt>
                <c:pt idx="73">
                  <c:v>199.9</c:v>
                </c:pt>
                <c:pt idx="74">
                  <c:v>420.9</c:v>
                </c:pt>
                <c:pt idx="75">
                  <c:v>348.8</c:v>
                </c:pt>
                <c:pt idx="76">
                  <c:v>241.6</c:v>
                </c:pt>
                <c:pt idx="77">
                  <c:v>273.4</c:v>
                </c:pt>
                <c:pt idx="78">
                  <c:v>303</c:v>
                </c:pt>
                <c:pt idx="79">
                  <c:v>260</c:v>
                </c:pt>
                <c:pt idx="80">
                  <c:v>275.5</c:v>
                </c:pt>
                <c:pt idx="81">
                  <c:v>288.4</c:v>
                </c:pt>
                <c:pt idx="82">
                  <c:v>347.1</c:v>
                </c:pt>
                <c:pt idx="83">
                  <c:v>316.2</c:v>
                </c:pt>
                <c:pt idx="84">
                  <c:v>291.2</c:v>
                </c:pt>
                <c:pt idx="85">
                  <c:v>214.5</c:v>
                </c:pt>
                <c:pt idx="86">
                  <c:v>265.8</c:v>
                </c:pt>
                <c:pt idx="87">
                  <c:v>283.9</c:v>
                </c:pt>
                <c:pt idx="88">
                  <c:v>324.4</c:v>
                </c:pt>
                <c:pt idx="89">
                  <c:v>238.3</c:v>
                </c:pt>
                <c:pt idx="90">
                  <c:v>345.7</c:v>
                </c:pt>
                <c:pt idx="91">
                  <c:v>327.8</c:v>
                </c:pt>
                <c:pt idx="92">
                  <c:v>271.7</c:v>
                </c:pt>
                <c:pt idx="93">
                  <c:v>294.1</c:v>
                </c:pt>
                <c:pt idx="94">
                  <c:v>343.4</c:v>
                </c:pt>
                <c:pt idx="95">
                  <c:v>274.2</c:v>
                </c:pt>
                <c:pt idx="96">
                  <c:v>271.2</c:v>
                </c:pt>
                <c:pt idx="97">
                  <c:v>304.9</c:v>
                </c:pt>
                <c:pt idx="98">
                  <c:v>400</c:v>
                </c:pt>
                <c:pt idx="99">
                  <c:v>361</c:v>
                </c:pt>
                <c:pt idx="100">
                  <c:v>254.6</c:v>
                </c:pt>
                <c:pt idx="101">
                  <c:v>260.3</c:v>
                </c:pt>
                <c:pt idx="102">
                  <c:v>181.8</c:v>
                </c:pt>
                <c:pt idx="103">
                  <c:v>408</c:v>
                </c:pt>
                <c:pt idx="104">
                  <c:v>384.8</c:v>
                </c:pt>
                <c:pt idx="105">
                  <c:v>349.5</c:v>
                </c:pt>
                <c:pt idx="106">
                  <c:v>338</c:v>
                </c:pt>
                <c:pt idx="107">
                  <c:v>344.5</c:v>
                </c:pt>
                <c:pt idx="108">
                  <c:v>314.8</c:v>
                </c:pt>
                <c:pt idx="109">
                  <c:v>324.7</c:v>
                </c:pt>
                <c:pt idx="110">
                  <c:v>274.3</c:v>
                </c:pt>
                <c:pt idx="111">
                  <c:v>306.3</c:v>
                </c:pt>
                <c:pt idx="112">
                  <c:v>303.2</c:v>
                </c:pt>
                <c:pt idx="113">
                  <c:v>286.8</c:v>
                </c:pt>
                <c:pt idx="114">
                  <c:v>381.2</c:v>
                </c:pt>
                <c:pt idx="115">
                  <c:v>236.7</c:v>
                </c:pt>
                <c:pt idx="116">
                  <c:v>312.3</c:v>
                </c:pt>
                <c:pt idx="117">
                  <c:v>350.6</c:v>
                </c:pt>
                <c:pt idx="118">
                  <c:v>356.4</c:v>
                </c:pt>
                <c:pt idx="119">
                  <c:v>175.9</c:v>
                </c:pt>
                <c:pt idx="120">
                  <c:v>343.3</c:v>
                </c:pt>
                <c:pt idx="121">
                  <c:v>350</c:v>
                </c:pt>
                <c:pt idx="122">
                  <c:v>254.5</c:v>
                </c:pt>
                <c:pt idx="123">
                  <c:v>330.8</c:v>
                </c:pt>
                <c:pt idx="124">
                  <c:v>296.9</c:v>
                </c:pt>
                <c:pt idx="125">
                  <c:v>245.9</c:v>
                </c:pt>
                <c:pt idx="126">
                  <c:v>244.4</c:v>
                </c:pt>
                <c:pt idx="127">
                  <c:v>302.5</c:v>
                </c:pt>
                <c:pt idx="128">
                  <c:v>248.2</c:v>
                </c:pt>
                <c:pt idx="129">
                  <c:v>307.1</c:v>
                </c:pt>
                <c:pt idx="130">
                  <c:v>241.6</c:v>
                </c:pt>
                <c:pt idx="131">
                  <c:v>355</c:v>
                </c:pt>
                <c:pt idx="132">
                  <c:v>307</c:v>
                </c:pt>
                <c:pt idx="133">
                  <c:v>232.4</c:v>
                </c:pt>
                <c:pt idx="134">
                  <c:v>246.8</c:v>
                </c:pt>
                <c:pt idx="135">
                  <c:v>334.6</c:v>
                </c:pt>
                <c:pt idx="136">
                  <c:v>237.4</c:v>
                </c:pt>
                <c:pt idx="137">
                  <c:v>286.2</c:v>
                </c:pt>
                <c:pt idx="138">
                  <c:v>333.5</c:v>
                </c:pt>
                <c:pt idx="139">
                  <c:v>365.1</c:v>
                </c:pt>
                <c:pt idx="140">
                  <c:v>317.6</c:v>
                </c:pt>
                <c:pt idx="141">
                  <c:v>348.7</c:v>
                </c:pt>
                <c:pt idx="142">
                  <c:v>301.6</c:v>
                </c:pt>
                <c:pt idx="143">
                  <c:v>310.7</c:v>
                </c:pt>
                <c:pt idx="144">
                  <c:v>245.7</c:v>
                </c:pt>
                <c:pt idx="145">
                  <c:v>253.4</c:v>
                </c:pt>
                <c:pt idx="146">
                  <c:v>266.4</c:v>
                </c:pt>
                <c:pt idx="147">
                  <c:v>245.1</c:v>
                </c:pt>
                <c:pt idx="148">
                  <c:v>287.3</c:v>
                </c:pt>
                <c:pt idx="149">
                  <c:v>253.4</c:v>
                </c:pt>
                <c:pt idx="150">
                  <c:v>276.5</c:v>
                </c:pt>
                <c:pt idx="151">
                  <c:v>237.3</c:v>
                </c:pt>
                <c:pt idx="152">
                  <c:v>165.3</c:v>
                </c:pt>
                <c:pt idx="153">
                  <c:v>319.9</c:v>
                </c:pt>
                <c:pt idx="154">
                  <c:v>133</c:v>
                </c:pt>
                <c:pt idx="155">
                  <c:v>340.9</c:v>
                </c:pt>
                <c:pt idx="156">
                  <c:v>369.1</c:v>
                </c:pt>
                <c:pt idx="157">
                  <c:v>314.3</c:v>
                </c:pt>
                <c:pt idx="158">
                  <c:v>379.2</c:v>
                </c:pt>
                <c:pt idx="159">
                  <c:v>279.3</c:v>
                </c:pt>
                <c:pt idx="160">
                  <c:v>280.9</c:v>
                </c:pt>
                <c:pt idx="161">
                  <c:v>289.3</c:v>
                </c:pt>
                <c:pt idx="162">
                  <c:v>233.8</c:v>
                </c:pt>
                <c:pt idx="163">
                  <c:v>307.3</c:v>
                </c:pt>
                <c:pt idx="164">
                  <c:v>197.8</c:v>
                </c:pt>
                <c:pt idx="165">
                  <c:v>257</c:v>
                </c:pt>
                <c:pt idx="166">
                  <c:v>386</c:v>
                </c:pt>
                <c:pt idx="167">
                  <c:v>169.8</c:v>
                </c:pt>
                <c:pt idx="168">
                  <c:v>301</c:v>
                </c:pt>
                <c:pt idx="169">
                  <c:v>228.6</c:v>
                </c:pt>
                <c:pt idx="170">
                  <c:v>387.9</c:v>
                </c:pt>
                <c:pt idx="171">
                  <c:v>215</c:v>
                </c:pt>
                <c:pt idx="172">
                  <c:v>304.3</c:v>
                </c:pt>
                <c:pt idx="173">
                  <c:v>236.6</c:v>
                </c:pt>
                <c:pt idx="174">
                  <c:v>326.6</c:v>
                </c:pt>
                <c:pt idx="175">
                  <c:v>347.9</c:v>
                </c:pt>
                <c:pt idx="176">
                  <c:v>176.4</c:v>
                </c:pt>
                <c:pt idx="177">
                  <c:v>219.7</c:v>
                </c:pt>
                <c:pt idx="178">
                  <c:v>270.9</c:v>
                </c:pt>
                <c:pt idx="179">
                  <c:v>211.1</c:v>
                </c:pt>
                <c:pt idx="180">
                  <c:v>336.8</c:v>
                </c:pt>
                <c:pt idx="181">
                  <c:v>273.4</c:v>
                </c:pt>
                <c:pt idx="182">
                  <c:v>301.1</c:v>
                </c:pt>
                <c:pt idx="183">
                  <c:v>303.3</c:v>
                </c:pt>
                <c:pt idx="184">
                  <c:v>349.3</c:v>
                </c:pt>
                <c:pt idx="185">
                  <c:v>369</c:v>
                </c:pt>
                <c:pt idx="186">
                  <c:v>335.4</c:v>
                </c:pt>
                <c:pt idx="187">
                  <c:v>251.7</c:v>
                </c:pt>
                <c:pt idx="188">
                  <c:v>360.7</c:v>
                </c:pt>
                <c:pt idx="189">
                  <c:v>273.2</c:v>
                </c:pt>
                <c:pt idx="190">
                  <c:v>266.3</c:v>
                </c:pt>
                <c:pt idx="191">
                  <c:v>266.1</c:v>
                </c:pt>
                <c:pt idx="192">
                  <c:v>322.4</c:v>
                </c:pt>
                <c:pt idx="193">
                  <c:v>287.2</c:v>
                </c:pt>
                <c:pt idx="194">
                  <c:v>261.1</c:v>
                </c:pt>
                <c:pt idx="195">
                  <c:v>219.9</c:v>
                </c:pt>
                <c:pt idx="196">
                  <c:v>214.1</c:v>
                </c:pt>
                <c:pt idx="197">
                  <c:v>257.5</c:v>
                </c:pt>
                <c:pt idx="198">
                  <c:v>301.2</c:v>
                </c:pt>
                <c:pt idx="199">
                  <c:v>319.7</c:v>
                </c:pt>
                <c:pt idx="200">
                  <c:v>274.3</c:v>
                </c:pt>
                <c:pt idx="201">
                  <c:v>390</c:v>
                </c:pt>
                <c:pt idx="202">
                  <c:v>220.1</c:v>
                </c:pt>
                <c:pt idx="203">
                  <c:v>388.2</c:v>
                </c:pt>
                <c:pt idx="204">
                  <c:v>211.7</c:v>
                </c:pt>
                <c:pt idx="205">
                  <c:v>220.7</c:v>
                </c:pt>
                <c:pt idx="206">
                  <c:v>259.5</c:v>
                </c:pt>
                <c:pt idx="207">
                  <c:v>254.3</c:v>
                </c:pt>
                <c:pt idx="208">
                  <c:v>312.3</c:v>
                </c:pt>
                <c:pt idx="209">
                  <c:v>323.9</c:v>
                </c:pt>
                <c:pt idx="210">
                  <c:v>243.5</c:v>
                </c:pt>
                <c:pt idx="211">
                  <c:v>345.9</c:v>
                </c:pt>
                <c:pt idx="212">
                  <c:v>358.9</c:v>
                </c:pt>
                <c:pt idx="213">
                  <c:v>322.9</c:v>
                </c:pt>
                <c:pt idx="214">
                  <c:v>360.1</c:v>
                </c:pt>
                <c:pt idx="215">
                  <c:v>313.4</c:v>
                </c:pt>
                <c:pt idx="216">
                  <c:v>290.6</c:v>
                </c:pt>
                <c:pt idx="217">
                  <c:v>262.7</c:v>
                </c:pt>
                <c:pt idx="218">
                  <c:v>240.2</c:v>
                </c:pt>
                <c:pt idx="219">
                  <c:v>324.4</c:v>
                </c:pt>
                <c:pt idx="220">
                  <c:v>282.8</c:v>
                </c:pt>
                <c:pt idx="221">
                  <c:v>304</c:v>
                </c:pt>
                <c:pt idx="222">
                  <c:v>150</c:v>
                </c:pt>
                <c:pt idx="223">
                  <c:v>234.9</c:v>
                </c:pt>
                <c:pt idx="224">
                  <c:v>279.4</c:v>
                </c:pt>
                <c:pt idx="225">
                  <c:v>227.9</c:v>
                </c:pt>
                <c:pt idx="226">
                  <c:v>367.5</c:v>
                </c:pt>
                <c:pt idx="227">
                  <c:v>261.3</c:v>
                </c:pt>
                <c:pt idx="228">
                  <c:v>262.8</c:v>
                </c:pt>
                <c:pt idx="229">
                  <c:v>215</c:v>
                </c:pt>
                <c:pt idx="230">
                  <c:v>242.2</c:v>
                </c:pt>
                <c:pt idx="231">
                  <c:v>268.1</c:v>
                </c:pt>
                <c:pt idx="232">
                  <c:v>296.4</c:v>
                </c:pt>
                <c:pt idx="233">
                  <c:v>368.7</c:v>
                </c:pt>
                <c:pt idx="234">
                  <c:v>266.7</c:v>
                </c:pt>
                <c:pt idx="235">
                  <c:v>315.4</c:v>
                </c:pt>
                <c:pt idx="236">
                  <c:v>236.6</c:v>
                </c:pt>
                <c:pt idx="237">
                  <c:v>369.6</c:v>
                </c:pt>
                <c:pt idx="238">
                  <c:v>296.7</c:v>
                </c:pt>
                <c:pt idx="239">
                  <c:v>309.4</c:v>
                </c:pt>
                <c:pt idx="240">
                  <c:v>300.3</c:v>
                </c:pt>
                <c:pt idx="241">
                  <c:v>329.8</c:v>
                </c:pt>
                <c:pt idx="242">
                  <c:v>210</c:v>
                </c:pt>
                <c:pt idx="243">
                  <c:v>271.4</c:v>
                </c:pt>
                <c:pt idx="244">
                  <c:v>314.3</c:v>
                </c:pt>
                <c:pt idx="245">
                  <c:v>344.4</c:v>
                </c:pt>
                <c:pt idx="246">
                  <c:v>272.2</c:v>
                </c:pt>
                <c:pt idx="247">
                  <c:v>211.4</c:v>
                </c:pt>
                <c:pt idx="248">
                  <c:v>232.6</c:v>
                </c:pt>
                <c:pt idx="249">
                  <c:v>249</c:v>
                </c:pt>
              </c:numCache>
            </c:numRef>
          </c:xVal>
          <c:yVal>
            <c:numRef>
              <c:f>Sheet1!$B$2:$B$251</c:f>
              <c:numCache>
                <c:formatCode>General</c:formatCode>
                <c:ptCount val="250"/>
                <c:pt idx="0">
                  <c:v>195.9</c:v>
                </c:pt>
                <c:pt idx="1">
                  <c:v>251.8</c:v>
                </c:pt>
                <c:pt idx="2">
                  <c:v>292.3</c:v>
                </c:pt>
                <c:pt idx="3">
                  <c:v>273.5</c:v>
                </c:pt>
                <c:pt idx="4">
                  <c:v>196.4</c:v>
                </c:pt>
                <c:pt idx="5">
                  <c:v>300.7</c:v>
                </c:pt>
                <c:pt idx="6">
                  <c:v>210.7</c:v>
                </c:pt>
                <c:pt idx="7">
                  <c:v>148.4</c:v>
                </c:pt>
                <c:pt idx="8">
                  <c:v>287</c:v>
                </c:pt>
                <c:pt idx="9">
                  <c:v>273.9</c:v>
                </c:pt>
                <c:pt idx="10">
                  <c:v>160.3</c:v>
                </c:pt>
                <c:pt idx="11">
                  <c:v>201.9</c:v>
                </c:pt>
                <c:pt idx="12">
                  <c:v>369.6</c:v>
                </c:pt>
                <c:pt idx="13">
                  <c:v>289.1</c:v>
                </c:pt>
                <c:pt idx="14">
                  <c:v>420.8</c:v>
                </c:pt>
                <c:pt idx="15">
                  <c:v>367.8</c:v>
                </c:pt>
                <c:pt idx="16">
                  <c:v>358.5</c:v>
                </c:pt>
                <c:pt idx="17">
                  <c:v>236</c:v>
                </c:pt>
                <c:pt idx="18">
                  <c:v>294.4</c:v>
                </c:pt>
                <c:pt idx="19">
                  <c:v>340</c:v>
                </c:pt>
                <c:pt idx="20">
                  <c:v>295.8</c:v>
                </c:pt>
                <c:pt idx="21">
                  <c:v>357.7</c:v>
                </c:pt>
                <c:pt idx="22">
                  <c:v>280.8</c:v>
                </c:pt>
                <c:pt idx="23">
                  <c:v>315.1</c:v>
                </c:pt>
                <c:pt idx="24">
                  <c:v>366.8</c:v>
                </c:pt>
                <c:pt idx="25">
                  <c:v>251.1</c:v>
                </c:pt>
                <c:pt idx="26">
                  <c:v>320.2</c:v>
                </c:pt>
                <c:pt idx="27">
                  <c:v>176.4</c:v>
                </c:pt>
                <c:pt idx="28">
                  <c:v>318</c:v>
                </c:pt>
                <c:pt idx="29">
                  <c:v>275</c:v>
                </c:pt>
                <c:pt idx="30">
                  <c:v>204.2</c:v>
                </c:pt>
                <c:pt idx="31">
                  <c:v>305.6</c:v>
                </c:pt>
                <c:pt idx="32">
                  <c:v>325.3</c:v>
                </c:pt>
                <c:pt idx="33">
                  <c:v>191.8</c:v>
                </c:pt>
                <c:pt idx="34">
                  <c:v>316.4</c:v>
                </c:pt>
                <c:pt idx="35">
                  <c:v>312.2</c:v>
                </c:pt>
                <c:pt idx="36">
                  <c:v>285</c:v>
                </c:pt>
                <c:pt idx="37">
                  <c:v>256</c:v>
                </c:pt>
                <c:pt idx="38">
                  <c:v>373.8</c:v>
                </c:pt>
                <c:pt idx="39">
                  <c:v>276.8</c:v>
                </c:pt>
                <c:pt idx="40">
                  <c:v>275.8</c:v>
                </c:pt>
                <c:pt idx="41">
                  <c:v>314.5</c:v>
                </c:pt>
                <c:pt idx="42">
                  <c:v>254.8</c:v>
                </c:pt>
                <c:pt idx="43">
                  <c:v>292</c:v>
                </c:pt>
                <c:pt idx="44">
                  <c:v>209</c:v>
                </c:pt>
                <c:pt idx="45">
                  <c:v>296</c:v>
                </c:pt>
                <c:pt idx="46">
                  <c:v>284.1</c:v>
                </c:pt>
                <c:pt idx="47">
                  <c:v>314.8</c:v>
                </c:pt>
                <c:pt idx="48">
                  <c:v>206.9</c:v>
                </c:pt>
                <c:pt idx="49">
                  <c:v>275.7</c:v>
                </c:pt>
                <c:pt idx="50">
                  <c:v>255.6</c:v>
                </c:pt>
                <c:pt idx="51">
                  <c:v>320.9</c:v>
                </c:pt>
                <c:pt idx="52">
                  <c:v>244.2</c:v>
                </c:pt>
                <c:pt idx="53">
                  <c:v>272.2</c:v>
                </c:pt>
                <c:pt idx="54">
                  <c:v>333.1</c:v>
                </c:pt>
                <c:pt idx="55">
                  <c:v>252</c:v>
                </c:pt>
                <c:pt idx="56">
                  <c:v>329.6</c:v>
                </c:pt>
                <c:pt idx="57">
                  <c:v>255.2</c:v>
                </c:pt>
                <c:pt idx="58">
                  <c:v>245.3</c:v>
                </c:pt>
                <c:pt idx="59">
                  <c:v>347.6</c:v>
                </c:pt>
                <c:pt idx="60">
                  <c:v>210.9</c:v>
                </c:pt>
                <c:pt idx="61">
                  <c:v>240.7</c:v>
                </c:pt>
                <c:pt idx="62">
                  <c:v>207.5</c:v>
                </c:pt>
                <c:pt idx="63">
                  <c:v>297.3</c:v>
                </c:pt>
                <c:pt idx="64">
                  <c:v>259.6</c:v>
                </c:pt>
                <c:pt idx="65">
                  <c:v>259</c:v>
                </c:pt>
                <c:pt idx="66">
                  <c:v>326.3</c:v>
                </c:pt>
                <c:pt idx="67">
                  <c:v>385.7</c:v>
                </c:pt>
                <c:pt idx="68">
                  <c:v>274.3</c:v>
                </c:pt>
                <c:pt idx="69">
                  <c:v>216.6</c:v>
                </c:pt>
                <c:pt idx="70">
                  <c:v>199.3</c:v>
                </c:pt>
                <c:pt idx="71">
                  <c:v>309.5</c:v>
                </c:pt>
                <c:pt idx="72">
                  <c:v>219.6</c:v>
                </c:pt>
                <c:pt idx="73">
                  <c:v>207.5</c:v>
                </c:pt>
                <c:pt idx="74">
                  <c:v>420.8</c:v>
                </c:pt>
                <c:pt idx="75">
                  <c:v>345.3</c:v>
                </c:pt>
                <c:pt idx="76">
                  <c:v>239.8</c:v>
                </c:pt>
                <c:pt idx="77">
                  <c:v>272.8</c:v>
                </c:pt>
                <c:pt idx="78">
                  <c:v>301.7</c:v>
                </c:pt>
                <c:pt idx="79">
                  <c:v>295.3</c:v>
                </c:pt>
                <c:pt idx="80">
                  <c:v>286.5</c:v>
                </c:pt>
                <c:pt idx="81">
                  <c:v>299.7</c:v>
                </c:pt>
                <c:pt idx="82">
                  <c:v>332.2</c:v>
                </c:pt>
                <c:pt idx="83">
                  <c:v>343.1</c:v>
                </c:pt>
                <c:pt idx="84">
                  <c:v>278.7</c:v>
                </c:pt>
                <c:pt idx="85">
                  <c:v>196.1</c:v>
                </c:pt>
                <c:pt idx="86">
                  <c:v>265.4</c:v>
                </c:pt>
                <c:pt idx="87">
                  <c:v>284.5</c:v>
                </c:pt>
                <c:pt idx="88">
                  <c:v>327.2</c:v>
                </c:pt>
                <c:pt idx="89">
                  <c:v>256.1</c:v>
                </c:pt>
                <c:pt idx="90">
                  <c:v>361.6</c:v>
                </c:pt>
                <c:pt idx="91">
                  <c:v>340.3</c:v>
                </c:pt>
                <c:pt idx="92">
                  <c:v>257.7</c:v>
                </c:pt>
                <c:pt idx="93">
                  <c:v>282</c:v>
                </c:pt>
                <c:pt idx="94">
                  <c:v>353.5</c:v>
                </c:pt>
                <c:pt idx="95">
                  <c:v>262.9</c:v>
                </c:pt>
                <c:pt idx="96">
                  <c:v>244.1</c:v>
                </c:pt>
                <c:pt idx="97">
                  <c:v>306</c:v>
                </c:pt>
                <c:pt idx="98">
                  <c:v>396.7</c:v>
                </c:pt>
                <c:pt idx="99">
                  <c:v>369.4</c:v>
                </c:pt>
                <c:pt idx="100">
                  <c:v>270.8</c:v>
                </c:pt>
                <c:pt idx="101">
                  <c:v>292.5</c:v>
                </c:pt>
                <c:pt idx="102">
                  <c:v>218.6</c:v>
                </c:pt>
                <c:pt idx="103">
                  <c:v>376.7</c:v>
                </c:pt>
                <c:pt idx="104">
                  <c:v>404.6</c:v>
                </c:pt>
                <c:pt idx="105">
                  <c:v>332.6</c:v>
                </c:pt>
                <c:pt idx="106">
                  <c:v>348.5</c:v>
                </c:pt>
                <c:pt idx="107">
                  <c:v>349.6</c:v>
                </c:pt>
                <c:pt idx="108">
                  <c:v>316.9</c:v>
                </c:pt>
                <c:pt idx="109">
                  <c:v>343</c:v>
                </c:pt>
                <c:pt idx="110">
                  <c:v>260.8</c:v>
                </c:pt>
                <c:pt idx="111">
                  <c:v>308.8</c:v>
                </c:pt>
                <c:pt idx="112">
                  <c:v>327.6</c:v>
                </c:pt>
                <c:pt idx="113">
                  <c:v>279.5</c:v>
                </c:pt>
                <c:pt idx="114">
                  <c:v>371.5</c:v>
                </c:pt>
                <c:pt idx="115">
                  <c:v>239</c:v>
                </c:pt>
                <c:pt idx="116">
                  <c:v>318.4</c:v>
                </c:pt>
                <c:pt idx="117">
                  <c:v>339.5</c:v>
                </c:pt>
                <c:pt idx="118">
                  <c:v>346.6</c:v>
                </c:pt>
                <c:pt idx="119">
                  <c:v>197.2</c:v>
                </c:pt>
                <c:pt idx="120">
                  <c:v>320.1</c:v>
                </c:pt>
                <c:pt idx="121">
                  <c:v>319.6</c:v>
                </c:pt>
                <c:pt idx="122">
                  <c:v>238.7</c:v>
                </c:pt>
                <c:pt idx="123">
                  <c:v>338.1</c:v>
                </c:pt>
                <c:pt idx="124">
                  <c:v>292.5</c:v>
                </c:pt>
                <c:pt idx="125">
                  <c:v>225.9</c:v>
                </c:pt>
                <c:pt idx="126">
                  <c:v>256.6</c:v>
                </c:pt>
                <c:pt idx="127">
                  <c:v>297.9</c:v>
                </c:pt>
                <c:pt idx="128">
                  <c:v>268.7</c:v>
                </c:pt>
                <c:pt idx="129">
                  <c:v>299.1</c:v>
                </c:pt>
                <c:pt idx="130">
                  <c:v>241.6</c:v>
                </c:pt>
                <c:pt idx="131">
                  <c:v>340.1</c:v>
                </c:pt>
                <c:pt idx="132">
                  <c:v>288.7</c:v>
                </c:pt>
                <c:pt idx="133">
                  <c:v>209.1</c:v>
                </c:pt>
                <c:pt idx="134">
                  <c:v>260.2</c:v>
                </c:pt>
                <c:pt idx="135">
                  <c:v>322.5</c:v>
                </c:pt>
                <c:pt idx="136">
                  <c:v>229.5</c:v>
                </c:pt>
                <c:pt idx="137">
                  <c:v>281.6</c:v>
                </c:pt>
                <c:pt idx="138">
                  <c:v>318</c:v>
                </c:pt>
                <c:pt idx="139">
                  <c:v>361.2</c:v>
                </c:pt>
                <c:pt idx="140">
                  <c:v>312.6</c:v>
                </c:pt>
                <c:pt idx="141">
                  <c:v>357.1</c:v>
                </c:pt>
                <c:pt idx="142">
                  <c:v>301.7</c:v>
                </c:pt>
                <c:pt idx="143">
                  <c:v>312.1</c:v>
                </c:pt>
                <c:pt idx="144">
                  <c:v>257.2</c:v>
                </c:pt>
                <c:pt idx="145">
                  <c:v>258.7</c:v>
                </c:pt>
                <c:pt idx="146">
                  <c:v>270.9</c:v>
                </c:pt>
                <c:pt idx="147">
                  <c:v>254.9</c:v>
                </c:pt>
                <c:pt idx="148">
                  <c:v>306.5</c:v>
                </c:pt>
                <c:pt idx="149">
                  <c:v>284.5</c:v>
                </c:pt>
                <c:pt idx="150">
                  <c:v>294.4</c:v>
                </c:pt>
                <c:pt idx="151">
                  <c:v>243.3</c:v>
                </c:pt>
                <c:pt idx="152">
                  <c:v>188</c:v>
                </c:pt>
                <c:pt idx="153">
                  <c:v>301</c:v>
                </c:pt>
                <c:pt idx="154">
                  <c:v>157.3</c:v>
                </c:pt>
                <c:pt idx="155">
                  <c:v>331.1</c:v>
                </c:pt>
                <c:pt idx="156">
                  <c:v>378.2</c:v>
                </c:pt>
                <c:pt idx="157">
                  <c:v>304.8</c:v>
                </c:pt>
                <c:pt idx="158">
                  <c:v>369</c:v>
                </c:pt>
                <c:pt idx="159">
                  <c:v>269.8</c:v>
                </c:pt>
                <c:pt idx="160">
                  <c:v>293.6</c:v>
                </c:pt>
                <c:pt idx="161">
                  <c:v>277.2</c:v>
                </c:pt>
                <c:pt idx="162">
                  <c:v>231.1</c:v>
                </c:pt>
                <c:pt idx="163">
                  <c:v>303.6</c:v>
                </c:pt>
                <c:pt idx="164">
                  <c:v>205.2</c:v>
                </c:pt>
                <c:pt idx="165">
                  <c:v>261.6</c:v>
                </c:pt>
                <c:pt idx="166">
                  <c:v>387.3</c:v>
                </c:pt>
                <c:pt idx="167">
                  <c:v>170.8</c:v>
                </c:pt>
                <c:pt idx="168">
                  <c:v>287.5</c:v>
                </c:pt>
                <c:pt idx="169">
                  <c:v>220</c:v>
                </c:pt>
                <c:pt idx="170">
                  <c:v>391.7</c:v>
                </c:pt>
                <c:pt idx="171">
                  <c:v>231.6</c:v>
                </c:pt>
                <c:pt idx="172">
                  <c:v>306.4</c:v>
                </c:pt>
                <c:pt idx="173">
                  <c:v>244.5</c:v>
                </c:pt>
                <c:pt idx="174">
                  <c:v>316.2</c:v>
                </c:pt>
                <c:pt idx="175">
                  <c:v>371</c:v>
                </c:pt>
                <c:pt idx="176">
                  <c:v>189.5</c:v>
                </c:pt>
                <c:pt idx="177">
                  <c:v>239.9</c:v>
                </c:pt>
                <c:pt idx="178">
                  <c:v>276.6</c:v>
                </c:pt>
                <c:pt idx="179">
                  <c:v>202</c:v>
                </c:pt>
                <c:pt idx="180">
                  <c:v>338.4</c:v>
                </c:pt>
                <c:pt idx="181">
                  <c:v>282.5</c:v>
                </c:pt>
                <c:pt idx="182">
                  <c:v>319.6</c:v>
                </c:pt>
                <c:pt idx="183">
                  <c:v>290.8</c:v>
                </c:pt>
                <c:pt idx="184">
                  <c:v>335.2</c:v>
                </c:pt>
                <c:pt idx="185">
                  <c:v>368.8</c:v>
                </c:pt>
                <c:pt idx="186">
                  <c:v>325.3</c:v>
                </c:pt>
                <c:pt idx="187">
                  <c:v>277.1</c:v>
                </c:pt>
                <c:pt idx="188">
                  <c:v>338.5</c:v>
                </c:pt>
                <c:pt idx="189">
                  <c:v>268.1</c:v>
                </c:pt>
                <c:pt idx="190">
                  <c:v>262.1</c:v>
                </c:pt>
                <c:pt idx="191">
                  <c:v>261.9</c:v>
                </c:pt>
                <c:pt idx="192">
                  <c:v>337.1</c:v>
                </c:pt>
                <c:pt idx="193">
                  <c:v>268.2</c:v>
                </c:pt>
                <c:pt idx="194">
                  <c:v>255</c:v>
                </c:pt>
                <c:pt idx="195">
                  <c:v>219</c:v>
                </c:pt>
                <c:pt idx="196">
                  <c:v>202.8</c:v>
                </c:pt>
                <c:pt idx="197">
                  <c:v>271</c:v>
                </c:pt>
                <c:pt idx="198">
                  <c:v>306.2</c:v>
                </c:pt>
                <c:pt idx="199">
                  <c:v>325.6</c:v>
                </c:pt>
                <c:pt idx="200">
                  <c:v>257.8</c:v>
                </c:pt>
                <c:pt idx="201">
                  <c:v>397.2</c:v>
                </c:pt>
                <c:pt idx="202">
                  <c:v>245.7</c:v>
                </c:pt>
                <c:pt idx="203">
                  <c:v>366.7</c:v>
                </c:pt>
                <c:pt idx="204">
                  <c:v>226</c:v>
                </c:pt>
                <c:pt idx="205">
                  <c:v>237.9</c:v>
                </c:pt>
                <c:pt idx="206">
                  <c:v>269.2</c:v>
                </c:pt>
                <c:pt idx="207">
                  <c:v>257.8</c:v>
                </c:pt>
                <c:pt idx="208">
                  <c:v>287</c:v>
                </c:pt>
                <c:pt idx="209">
                  <c:v>329.9</c:v>
                </c:pt>
                <c:pt idx="210">
                  <c:v>224.9</c:v>
                </c:pt>
                <c:pt idx="211">
                  <c:v>337.1</c:v>
                </c:pt>
                <c:pt idx="212">
                  <c:v>365</c:v>
                </c:pt>
                <c:pt idx="213">
                  <c:v>335.4</c:v>
                </c:pt>
                <c:pt idx="214">
                  <c:v>341.3</c:v>
                </c:pt>
                <c:pt idx="215">
                  <c:v>329.8</c:v>
                </c:pt>
                <c:pt idx="216">
                  <c:v>282.7</c:v>
                </c:pt>
                <c:pt idx="217">
                  <c:v>302.1</c:v>
                </c:pt>
                <c:pt idx="218">
                  <c:v>251</c:v>
                </c:pt>
                <c:pt idx="219">
                  <c:v>301.7</c:v>
                </c:pt>
                <c:pt idx="220">
                  <c:v>285.1</c:v>
                </c:pt>
                <c:pt idx="221">
                  <c:v>317.5</c:v>
                </c:pt>
                <c:pt idx="222">
                  <c:v>157</c:v>
                </c:pt>
                <c:pt idx="223">
                  <c:v>250.9</c:v>
                </c:pt>
                <c:pt idx="224">
                  <c:v>260.9</c:v>
                </c:pt>
                <c:pt idx="225">
                  <c:v>225.6</c:v>
                </c:pt>
                <c:pt idx="226">
                  <c:v>357.3</c:v>
                </c:pt>
                <c:pt idx="227">
                  <c:v>271.9</c:v>
                </c:pt>
                <c:pt idx="228">
                  <c:v>286.8</c:v>
                </c:pt>
                <c:pt idx="229">
                  <c:v>197.2</c:v>
                </c:pt>
                <c:pt idx="230">
                  <c:v>232.4</c:v>
                </c:pt>
                <c:pt idx="231">
                  <c:v>281</c:v>
                </c:pt>
                <c:pt idx="232">
                  <c:v>308.3</c:v>
                </c:pt>
                <c:pt idx="233">
                  <c:v>347.3</c:v>
                </c:pt>
                <c:pt idx="234">
                  <c:v>292.7</c:v>
                </c:pt>
                <c:pt idx="235">
                  <c:v>307.3</c:v>
                </c:pt>
                <c:pt idx="236">
                  <c:v>255</c:v>
                </c:pt>
                <c:pt idx="237">
                  <c:v>363.8</c:v>
                </c:pt>
                <c:pt idx="238">
                  <c:v>296.3</c:v>
                </c:pt>
                <c:pt idx="239">
                  <c:v>343.4</c:v>
                </c:pt>
                <c:pt idx="240">
                  <c:v>312</c:v>
                </c:pt>
                <c:pt idx="241">
                  <c:v>331</c:v>
                </c:pt>
                <c:pt idx="242">
                  <c:v>212.9</c:v>
                </c:pt>
                <c:pt idx="243">
                  <c:v>299.3</c:v>
                </c:pt>
                <c:pt idx="244">
                  <c:v>328.2</c:v>
                </c:pt>
                <c:pt idx="245">
                  <c:v>366.1</c:v>
                </c:pt>
                <c:pt idx="246">
                  <c:v>291.6</c:v>
                </c:pt>
                <c:pt idx="247">
                  <c:v>221.2</c:v>
                </c:pt>
                <c:pt idx="248">
                  <c:v>240.3</c:v>
                </c:pt>
                <c:pt idx="249">
                  <c:v>250.5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in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Actual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Predicted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+mn-lt"/>
              </a:rPr>
              <a:t>Revenue added per rupee of ad spend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rupee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Digital ads</c:v>
                  </c:pt>
                  <c:pt idx="1">
                    <c:v>TV ads</c:v>
                  </c:pt>
                  <c:pt idx="2">
                    <c:v>Radio 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1.31</c:v>
                </c:pt>
                <c:pt idx="1">
                  <c:v>0.88</c:v>
                </c:pt>
                <c:pt idx="2">
                  <c:v>0.68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goal: predict monthly_revenue for retail stores and understand what drives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Revenue Prediction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Forecasting monthly store revenue with Linear Regression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Analytics Avenue  |  Data Analytics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retailer wants to know what drives monthly revenue, so it can budget and plan promotions ahead of time.</a:t>
            </a:r>
            <a:endParaRPr lang="en-US" sz="1600" dirty="0"/>
          </a:p>
        </p:txBody>
      </p:sp>
      <p:sp>
        <p:nvSpPr>
          <p:cNvPr id="4" name="card0"/>
          <p:cNvSpPr/>
          <p:nvPr/>
        </p:nvSpPr>
        <p:spPr>
          <a:xfrm>
            <a:off x="45720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store records</a:t>
            </a:r>
            <a:endParaRPr lang="en-US" sz="1400" dirty="0"/>
          </a:p>
        </p:txBody>
      </p:sp>
      <p:sp>
        <p:nvSpPr>
          <p:cNvPr id="7" name="card1"/>
          <p:cNvSpPr/>
          <p:nvPr/>
        </p:nvSpPr>
        <p:spPr>
          <a:xfrm>
            <a:off x="329184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marketing, store &amp; customer features</a:t>
            </a:r>
            <a:endParaRPr lang="en-US" sz="1400" dirty="0"/>
          </a:p>
        </p:txBody>
      </p:sp>
      <p:sp>
        <p:nvSpPr>
          <p:cNvPr id="10" name="card2"/>
          <p:cNvSpPr/>
          <p:nvPr/>
        </p:nvSpPr>
        <p:spPr>
          <a:xfrm>
            <a:off x="6126480" y="20116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target: monthly_revenue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Features: ad spend (TV, digital, radio), footfall, discounts, staffing, competitors, price, store size, satisfaction, social engagement, emails, and holiday / loyalty / online flags. No missing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step0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Load &amp; explore</a:t>
            </a:r>
            <a:endParaRPr lang="en-US" sz="1500" dirty="0"/>
          </a:p>
        </p:txBody>
      </p:sp>
      <p:sp>
        <p:nvSpPr>
          <p:cNvPr id="6" name="step1"/>
          <p:cNvSpPr/>
          <p:nvPr/>
        </p:nvSpPr>
        <p:spPr>
          <a:xfrm>
            <a:off x="257860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7860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80/20 train-test split</a:t>
            </a:r>
            <a:endParaRPr lang="en-US" sz="1500" dirty="0"/>
          </a:p>
        </p:txBody>
      </p:sp>
      <p:sp>
        <p:nvSpPr>
          <p:cNvPr id="9" name="step2"/>
          <p:cNvSpPr/>
          <p:nvPr/>
        </p:nvSpPr>
        <p:spPr>
          <a:xfrm>
            <a:off x="4242816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281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Fit Linear Regression</a:t>
            </a:r>
            <a:endParaRPr lang="en-US" sz="1500" dirty="0"/>
          </a:p>
        </p:txBody>
      </p:sp>
      <p:sp>
        <p:nvSpPr>
          <p:cNvPr id="12" name="step3"/>
          <p:cNvSpPr/>
          <p:nvPr/>
        </p:nvSpPr>
        <p:spPr>
          <a:xfrm>
            <a:off x="5907024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0702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49824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 coefficients</a:t>
            </a:r>
            <a:endParaRPr lang="en-US" sz="1500" dirty="0"/>
          </a:p>
        </p:txBody>
      </p:sp>
      <p:sp>
        <p:nvSpPr>
          <p:cNvPr id="15" name="step4"/>
          <p:cNvSpPr/>
          <p:nvPr/>
        </p:nvSpPr>
        <p:spPr>
          <a:xfrm>
            <a:off x="7571232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Evaluate &amp; save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Linear Regression? The target is continuous, coefficients read directly as "revenue change per unit", and it is a strong, explainable baseline before trying complex models.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Footfall is the strongest signal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4630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Store footfall (r = 0.65) moves most closely with revenue.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Store size and average price follow at about 0.4.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Discounts and competitors correlate negatively.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explains 93% of revenue variance</a:t>
            </a:r>
            <a:endParaRPr lang="en-US" sz="3200" dirty="0"/>
          </a:p>
        </p:txBody>
      </p:sp>
      <p:sp>
        <p:nvSpPr>
          <p:cNvPr id="3" name="metric0"/>
          <p:cNvSpPr/>
          <p:nvPr/>
        </p:nvSpPr>
        <p:spPr>
          <a:xfrm>
            <a:off x="45720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234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R² score</a:t>
            </a:r>
            <a:endParaRPr lang="en-US" sz="1400" dirty="0"/>
          </a:p>
        </p:txBody>
      </p:sp>
      <p:sp>
        <p:nvSpPr>
          <p:cNvPr id="6" name="metric1"/>
          <p:cNvSpPr/>
          <p:nvPr/>
        </p:nvSpPr>
        <p:spPr>
          <a:xfrm>
            <a:off x="457200" y="2377440"/>
            <a:ext cx="23774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14,876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423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RMSE</a:t>
            </a:r>
            <a:endParaRPr lang="en-US" sz="1400" dirty="0"/>
          </a:p>
        </p:txBody>
      </p:sp>
      <p:sp>
        <p:nvSpPr>
          <p:cNvPr id="9" name="metric2"/>
          <p:cNvSpPr/>
          <p:nvPr/>
        </p:nvSpPr>
        <p:spPr>
          <a:xfrm>
            <a:off x="457200" y="3566160"/>
            <a:ext cx="23774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11,924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611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MAE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108960" y="109728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Average error is about 12k on a mean monthly revenue of about 284k.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moves revenue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931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season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+19,949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program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+8,142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orders 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+5,082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satisfaction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sales 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nearby competitor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-1,570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66344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Effects hold other features constant. Footfall adds about 25 per extra visitor.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and 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Shift budget toward digital ads, which return the most per rupee.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Plan staffing and stock around holiday seasons and footfall peaks.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Keep the loyalty program and online ordering running.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Next: check multicollinearity (VIF), try Ridge / Lasso, then Random Forest or XGBoost.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Revenue">
  <a:themeElements>
    <a:clrScheme name="SalesRevenue">
      <a:dk1>
        <a:srgbClr val="1F2937"/>
      </a:dk1>
      <a:lt1>
        <a:srgbClr val="FFFFFF"/>
      </a:lt1>
      <a:dk2>
        <a:srgbClr val="0F3D3E"/>
      </a:dk2>
      <a:lt2>
        <a:srgbClr val="EEF5F3"/>
      </a:lt2>
      <a:accent1>
        <a:srgbClr val="0F766E"/>
      </a:accent1>
      <a:accent2>
        <a:srgbClr val="F59E0B"/>
      </a:accent2>
      <a:accent3>
        <a:srgbClr val="64748B"/>
      </a:accent3>
      <a:accent4>
        <a:srgbClr val="14B8A6"/>
      </a:accent4>
      <a:accent5>
        <a:srgbClr val="DC2626"/>
      </a:accent5>
      <a:accent6>
        <a:srgbClr val="334155"/>
      </a:accent6>
      <a:hlink>
        <a:srgbClr val="0F766E"/>
      </a:hlink>
      <a:folHlink>
        <a:srgbClr val="64748B"/>
      </a:folHlink>
    </a:clrScheme>
    <a:fontScheme name="SalesReven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2026-10-19T16:36:39Z</dcterms:created>
  <dcterms:modified xsi:type="dcterms:W3CDTF">2026-10-19T16:36:39Z</dcterms:modified>
</cp:coreProperties>
</file>